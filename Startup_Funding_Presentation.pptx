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e7e0ff2-9d3d-9b11-1f5c-b61f1a72c9f4}">
          <p14:sldIdLst>
            <p14:sldId id="256"/>
            <p14:sldId id="257"/>
            <p14:sldId id="258"/>
          </p14:sldIdLst>
        </p14:section>
        <p14:section name="Data and Method" id="{abd2a222-ca90-d8d6-d6c2-20120ce645ba}">
          <p14:sldIdLst>
            <p14:sldId id="259"/>
            <p14:sldId id="260"/>
            <p14:sldId id="261"/>
            <p14:sldId id="262"/>
          </p14:sldIdLst>
        </p14:section>
        <p14:section name="Results" id="{ace07bfd-2de0-04f3-fc9c-c88a10fa9ac1}">
          <p14:sldIdLst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Funding records by year</c:v>
                </c:pt>
              </c:strCache>
            </c:strRef>
          </c:tx>
          <c:spPr>
            <a:solidFill>
              <a:srgbClr val="2F7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929</c:v>
                </c:pt>
                <c:pt idx="1">
                  <c:v>993</c:v>
                </c:pt>
                <c:pt idx="2">
                  <c:v>687</c:v>
                </c:pt>
                <c:pt idx="3">
                  <c:v>309</c:v>
                </c:pt>
                <c:pt idx="4">
                  <c:v>111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cities by records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Bangalore</c:v>
                  </c:pt>
                  <c:pt idx="1">
                    <c:v>Mumbai</c:v>
                  </c:pt>
                  <c:pt idx="2">
                    <c:v>New Delhi</c:v>
                  </c:pt>
                  <c:pt idx="3">
                    <c:v>Gurgaon</c:v>
                  </c:pt>
                  <c:pt idx="4">
                    <c:v>Pune</c:v>
                  </c:pt>
                  <c:pt idx="5">
                    <c:v>Hyderabad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842</c:v>
                </c:pt>
                <c:pt idx="1">
                  <c:v>568</c:v>
                </c:pt>
                <c:pt idx="2">
                  <c:v>458</c:v>
                </c:pt>
                <c:pt idx="3">
                  <c:v>341</c:v>
                </c:pt>
                <c:pt idx="4">
                  <c:v>105</c:v>
                </c:pt>
                <c:pt idx="5">
                  <c:v>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industries by records</c:v>
                </c:pt>
              </c:strCache>
            </c:strRef>
          </c:tx>
          <c:spPr>
            <a:solidFill>
              <a:srgbClr val="2F7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Consumer Internet</c:v>
                  </c:pt>
                  <c:pt idx="1">
                    <c:v>Technology</c:v>
                  </c:pt>
                  <c:pt idx="2">
                    <c:v>eCommerce</c:v>
                  </c:pt>
                  <c:pt idx="3">
                    <c:v>Healthcare</c:v>
                  </c:pt>
                  <c:pt idx="4">
                    <c:v>Finance</c:v>
                  </c:pt>
                  <c:pt idx="5">
                    <c:v>Logistics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941</c:v>
                </c:pt>
                <c:pt idx="1">
                  <c:v>478</c:v>
                </c:pt>
                <c:pt idx="2">
                  <c:v>299</c:v>
                </c:pt>
                <c:pt idx="3">
                  <c:v>70</c:v>
                </c:pt>
                <c:pt idx="4">
                  <c:v>62</c:v>
                </c:pt>
                <c:pt idx="5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Most frequent investors</c:v>
                </c:pt>
              </c:strCache>
            </c:strRef>
          </c:tx>
          <c:spPr>
            <a:solidFill>
              <a:srgbClr val="C896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Sequoia Capital</c:v>
                  </c:pt>
                  <c:pt idx="1">
                    <c:v>Accel Partners</c:v>
                  </c:pt>
                  <c:pt idx="2">
                    <c:v>Kalaari Capital</c:v>
                  </c:pt>
                  <c:pt idx="3">
                    <c:v>SAIF Partners</c:v>
                  </c:pt>
                  <c:pt idx="4">
                    <c:v>Blume Ventures</c:v>
                  </c:pt>
                  <c:pt idx="5">
                    <c:v>Indian Angel Network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</c:v>
                </c:pt>
                <c:pt idx="1">
                  <c:v>69</c:v>
                </c:pt>
                <c:pt idx="2">
                  <c:v>50</c:v>
                </c:pt>
                <c:pt idx="3">
                  <c:v>48</c:v>
                </c:pt>
                <c:pt idx="4">
                  <c:v>47</c:v>
                </c:pt>
                <c:pt idx="5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analysis of Indian startup funding with an R Shiny dashboard and a Random Forest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Funding is concentrated; raw data is messy; we need a clear view and a simple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goals: clean, analyse, predict,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real Kaggle dataset; the synthetic sample file was only for testing the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Nearly a third of amounts are missing, so amount-based work uses 2,073 valid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 from cleaning to the deployed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flows from the CSV through cleaning into analysis and the model, then into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Records peaked in 2016. Four cities hold about 73 percent of all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Consumer Internet, Technology and eCommerce lead. Sequoia and Accel are most frequent.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85.8 percent against a 50 percent baseline. Fixing one column name raised accuracy from 0.60.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Investment type is by far the most important feature, and stage and amount are linked.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main message and the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60350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365"/>
                </a:solidFill>
              </a:rPr>
              <a:t>Startup Funding Success Prediction and Investor Pattern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3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E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3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3716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Startup Funding Success Prediction and Investor Pattern Analysis</a:t>
            </a:r>
            <a:endParaRPr lang="en-US" sz="3400" dirty="0"/>
          </a:p>
        </p:txBody>
      </p:sp>
      <p:sp>
        <p:nvSpPr>
          <p:cNvPr id="4" name="Presenter"/>
          <p:cNvSpPr txBox="1"/>
          <p:nvPr/>
        </p:nvSpPr>
        <p:spPr>
          <a:xfrm>
            <a:off x="640080" y="30632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Ushasree</a:t>
            </a:r>
            <a:endParaRPr lang="en-US" sz="2000" dirty="0"/>
          </a:p>
        </p:txBody>
      </p:sp>
      <p:sp>
        <p:nvSpPr>
          <p:cNvPr id="5" name="Roll number"/>
          <p:cNvSpPr txBox="1"/>
          <p:nvPr/>
        </p:nvSpPr>
        <p:spPr>
          <a:xfrm>
            <a:off x="640080" y="34747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160124771017</a:t>
            </a:r>
            <a:endParaRPr lang="en-US" sz="1400" dirty="0"/>
          </a:p>
        </p:txBody>
      </p:sp>
      <p:sp>
        <p:nvSpPr>
          <p:cNvPr id="6" name="Institute"/>
          <p:cNvSpPr txBox="1"/>
          <p:nvPr/>
        </p:nvSpPr>
        <p:spPr>
          <a:xfrm>
            <a:off x="640080" y="37947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Chaitanya Bharathi Institute of Technology (CBIT)</a:t>
            </a:r>
            <a:endParaRPr lang="en-US" sz="1400" dirty="0"/>
          </a:p>
        </p:txBody>
      </p:sp>
      <p:sp>
        <p:nvSpPr>
          <p:cNvPr id="7" name="Motif circle large"/>
          <p:cNvSpPr/>
          <p:nvPr/>
        </p:nvSpPr>
        <p:spPr>
          <a:xfrm>
            <a:off x="6720840" y="1234440"/>
            <a:ext cx="2651760" cy="2651760"/>
          </a:xfrm>
          <a:prstGeom prst="ellipse">
            <a:avLst/>
          </a:prstGeom>
          <a:solidFill>
            <a:schemeClr val="accent2">
              <a:alpha val="65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8" name="Motif circle small"/>
          <p:cNvSpPr/>
          <p:nvPr/>
        </p:nvSpPr>
        <p:spPr>
          <a:xfrm>
            <a:off x="7726680" y="3246120"/>
            <a:ext cx="1371600" cy="1371600"/>
          </a:xfrm>
          <a:prstGeom prst="ellipse">
            <a:avLst/>
          </a:prstGeom>
          <a:solidFill>
            <a:schemeClr val="accent6">
              <a:alpha val="80000"/>
            </a:schemeClr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9" name="Motif label"/>
          <p:cNvSpPr txBox="1"/>
          <p:nvPr/>
        </p:nvSpPr>
        <p:spPr>
          <a:xfrm>
            <a:off x="672084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· Shiny · Random Forest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Case Study Overview &amp; Problem Statement</a:t>
            </a:r>
            <a:endParaRPr lang="en-US" sz="2800" dirty="0"/>
          </a:p>
        </p:txBody>
      </p:sp>
      <p:sp>
        <p:nvSpPr>
          <p:cNvPr id="4" name="Card PROBLEM"/>
          <p:cNvSpPr/>
          <p:nvPr/>
        </p:nvSpPr>
        <p:spPr>
          <a:xfrm>
            <a:off x="548640" y="137160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PROBLEM label"/>
          <p:cNvSpPr txBox="1"/>
          <p:nvPr/>
        </p:nvSpPr>
        <p:spPr>
          <a:xfrm>
            <a:off x="731520" y="1508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6" name="PROBLEM text"/>
          <p:cNvSpPr txBox="1"/>
          <p:nvPr/>
        </p:nvSpPr>
        <p:spPr>
          <a:xfrm>
            <a:off x="731520" y="182880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is concentrated in a few cities, sectors and investors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Kaggle records are messy: spelling variants and missing amounts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quick, data-driven view of these patterns</a:t>
            </a:r>
            <a:endParaRPr lang="en-US" sz="1400" dirty="0"/>
          </a:p>
        </p:txBody>
      </p:sp>
      <p:sp>
        <p:nvSpPr>
          <p:cNvPr id="7" name="Card NEED"/>
          <p:cNvSpPr/>
          <p:nvPr/>
        </p:nvSpPr>
        <p:spPr>
          <a:xfrm>
            <a:off x="3291840" y="137160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NEED label"/>
          <p:cNvSpPr txBox="1"/>
          <p:nvPr/>
        </p:nvSpPr>
        <p:spPr>
          <a:xfrm>
            <a:off x="3474720" y="1508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200" dirty="0"/>
          </a:p>
        </p:txBody>
      </p:sp>
      <p:sp>
        <p:nvSpPr>
          <p:cNvPr id="9" name="NEED text"/>
          <p:cNvSpPr txBox="1"/>
          <p:nvPr/>
        </p:nvSpPr>
        <p:spPr>
          <a:xfrm>
            <a:off x="3474720" y="182880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funding flows and who funds 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whether a deal is likely above or below the median amount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interactive tool instead of manual spreadsheets</a:t>
            </a:r>
            <a:endParaRPr lang="en-US" sz="1400" dirty="0"/>
          </a:p>
        </p:txBody>
      </p:sp>
      <p:sp>
        <p:nvSpPr>
          <p:cNvPr id="10" name="Card PROPOSED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1" name="Proposed label"/>
          <p:cNvSpPr txBox="1"/>
          <p:nvPr/>
        </p:nvSpPr>
        <p:spPr>
          <a:xfrm>
            <a:off x="6217920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12" name="Proposed title"/>
          <p:cNvSpPr txBox="1"/>
          <p:nvPr/>
        </p:nvSpPr>
        <p:spPr>
          <a:xfrm>
            <a:off x="621792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Funding Analytics:</a:t>
            </a:r>
            <a:endParaRPr lang="en-US" sz="1800" dirty="0"/>
          </a:p>
        </p:txBody>
      </p:sp>
      <p:sp>
        <p:nvSpPr>
          <p:cNvPr id="13" name="Proposed text"/>
          <p:cNvSpPr txBox="1"/>
          <p:nvPr/>
        </p:nvSpPr>
        <p:spPr>
          <a:xfrm>
            <a:off x="6217920" y="26517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Shiny dashboard with funding analysis and a Random Forest that classifies each deal as Higher or Lower than the median amount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3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Project Objectives</a:t>
            </a:r>
            <a:endParaRPr lang="en-US" sz="28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goals driving the startup funding analysis</a:t>
            </a:r>
            <a:endParaRPr lang="en-US" sz="1400" dirty="0"/>
          </a:p>
        </p:txBody>
      </p:sp>
      <p:sp>
        <p:nvSpPr>
          <p:cNvPr id="5" name="Objective card 1"/>
          <p:cNvSpPr/>
          <p:nvPr/>
        </p:nvSpPr>
        <p:spPr>
          <a:xfrm>
            <a:off x="548640" y="137160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Objective 1 badge"/>
          <p:cNvSpPr/>
          <p:nvPr/>
        </p:nvSpPr>
        <p:spPr>
          <a:xfrm>
            <a:off x="731520" y="1527048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7" name="Objective 1 number"/>
          <p:cNvSpPr txBox="1"/>
          <p:nvPr/>
        </p:nvSpPr>
        <p:spPr>
          <a:xfrm>
            <a:off x="73152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Objective title 1"/>
          <p:cNvSpPr txBox="1"/>
          <p:nvPr/>
        </p:nvSpPr>
        <p:spPr>
          <a:xfrm>
            <a:off x="1234440" y="15270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Standardise</a:t>
            </a:r>
            <a:endParaRPr lang="en-US" sz="1700" dirty="0"/>
          </a:p>
        </p:txBody>
      </p:sp>
      <p:sp>
        <p:nvSpPr>
          <p:cNvPr id="9" name="Objective text 1"/>
          <p:cNvSpPr txBox="1"/>
          <p:nvPr/>
        </p:nvSpPr>
        <p:spPr>
          <a:xfrm>
            <a:off x="777240" y="202996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messy labels, amounts and dates in the raw Kaggle file.</a:t>
            </a:r>
            <a:endParaRPr lang="en-US" sz="1400" dirty="0"/>
          </a:p>
        </p:txBody>
      </p:sp>
      <p:sp>
        <p:nvSpPr>
          <p:cNvPr id="10" name="Objective card 2"/>
          <p:cNvSpPr/>
          <p:nvPr/>
        </p:nvSpPr>
        <p:spPr>
          <a:xfrm>
            <a:off x="4663440" y="137160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Objective 2 badge"/>
          <p:cNvSpPr/>
          <p:nvPr/>
        </p:nvSpPr>
        <p:spPr>
          <a:xfrm>
            <a:off x="4846320" y="1527048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2" name="Objective 2 number"/>
          <p:cNvSpPr txBox="1"/>
          <p:nvPr/>
        </p:nvSpPr>
        <p:spPr>
          <a:xfrm>
            <a:off x="484632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Objective title 2"/>
          <p:cNvSpPr txBox="1"/>
          <p:nvPr/>
        </p:nvSpPr>
        <p:spPr>
          <a:xfrm>
            <a:off x="5349240" y="15270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Funding Patterns</a:t>
            </a:r>
            <a:endParaRPr lang="en-US" sz="1700" dirty="0"/>
          </a:p>
        </p:txBody>
      </p:sp>
      <p:sp>
        <p:nvSpPr>
          <p:cNvPr id="14" name="Objective text 2"/>
          <p:cNvSpPr txBox="1"/>
          <p:nvPr/>
        </p:nvSpPr>
        <p:spPr>
          <a:xfrm>
            <a:off x="4892040" y="202996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funding by year, industry, city, investment type and investor.</a:t>
            </a:r>
            <a:endParaRPr lang="en-US" sz="1400" dirty="0"/>
          </a:p>
        </p:txBody>
      </p:sp>
      <p:sp>
        <p:nvSpPr>
          <p:cNvPr id="15" name="Objective card 3"/>
          <p:cNvSpPr/>
          <p:nvPr/>
        </p:nvSpPr>
        <p:spPr>
          <a:xfrm>
            <a:off x="54864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Objective 3 badge"/>
          <p:cNvSpPr/>
          <p:nvPr/>
        </p:nvSpPr>
        <p:spPr>
          <a:xfrm>
            <a:off x="731520" y="3172968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7" name="Objective 3 number"/>
          <p:cNvSpPr txBox="1"/>
          <p:nvPr/>
        </p:nvSpPr>
        <p:spPr>
          <a:xfrm>
            <a:off x="73152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Objective title 3"/>
          <p:cNvSpPr txBox="1"/>
          <p:nvPr/>
        </p:nvSpPr>
        <p:spPr>
          <a:xfrm>
            <a:off x="1234440" y="31729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Funding Category</a:t>
            </a:r>
            <a:endParaRPr lang="en-US" sz="1700" dirty="0"/>
          </a:p>
        </p:txBody>
      </p:sp>
      <p:sp>
        <p:nvSpPr>
          <p:cNvPr id="19" name="Objective text 3"/>
          <p:cNvSpPr txBox="1"/>
          <p:nvPr/>
        </p:nvSpPr>
        <p:spPr>
          <a:xfrm>
            <a:off x="777240" y="367588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classifies a deal as Higher or Lower than the median amount.</a:t>
            </a:r>
            <a:endParaRPr lang="en-US" sz="1400" dirty="0"/>
          </a:p>
        </p:txBody>
      </p:sp>
      <p:sp>
        <p:nvSpPr>
          <p:cNvPr id="20" name="Objective card 4"/>
          <p:cNvSpPr/>
          <p:nvPr/>
        </p:nvSpPr>
        <p:spPr>
          <a:xfrm>
            <a:off x="466344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1" name="Objective 4 badge"/>
          <p:cNvSpPr/>
          <p:nvPr/>
        </p:nvSpPr>
        <p:spPr>
          <a:xfrm>
            <a:off x="4846320" y="3172968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2" name="Objective 4 number"/>
          <p:cNvSpPr txBox="1"/>
          <p:nvPr/>
        </p:nvSpPr>
        <p:spPr>
          <a:xfrm>
            <a:off x="484632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Objective title 4"/>
          <p:cNvSpPr txBox="1"/>
          <p:nvPr/>
        </p:nvSpPr>
        <p:spPr>
          <a:xfrm>
            <a:off x="5349240" y="31729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Shiny Dashboard</a:t>
            </a:r>
            <a:endParaRPr lang="en-US" sz="1700" dirty="0"/>
          </a:p>
        </p:txBody>
      </p:sp>
      <p:sp>
        <p:nvSpPr>
          <p:cNvPr id="24" name="Objective text 4"/>
          <p:cNvSpPr txBox="1"/>
          <p:nvPr/>
        </p:nvSpPr>
        <p:spPr>
          <a:xfrm>
            <a:off x="4892040" y="367588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charts, model results and a prediction form in one app.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3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Dataset Overview</a:t>
            </a:r>
            <a:endParaRPr lang="en-US" sz="28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startup funding records from Kaggle, January 2015 to January 2020</a:t>
            </a:r>
            <a:endParaRPr lang="en-US" sz="1400" dirty="0"/>
          </a:p>
        </p:txBody>
      </p:sp>
      <p:sp>
        <p:nvSpPr>
          <p:cNvPr id="5" name="Dataset card 1"/>
          <p:cNvSpPr/>
          <p:nvPr/>
        </p:nvSpPr>
        <p:spPr>
          <a:xfrm>
            <a:off x="548640" y="1371600"/>
            <a:ext cx="393192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Dataset heading 1"/>
          <p:cNvSpPr txBox="1"/>
          <p:nvPr/>
        </p:nvSpPr>
        <p:spPr>
          <a:xfrm>
            <a:off x="77724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startup_funding.csv</a:t>
            </a:r>
            <a:endParaRPr lang="en-US" sz="1700" dirty="0"/>
          </a:p>
        </p:txBody>
      </p:sp>
      <p:sp>
        <p:nvSpPr>
          <p:cNvPr id="7" name="Key 1-1"/>
          <p:cNvSpPr txBox="1"/>
          <p:nvPr/>
        </p:nvSpPr>
        <p:spPr>
          <a:xfrm>
            <a:off x="777240" y="19659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8" name="Value 1-1"/>
          <p:cNvSpPr txBox="1"/>
          <p:nvPr/>
        </p:nvSpPr>
        <p:spPr>
          <a:xfrm>
            <a:off x="1828800" y="19659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Indian Startup Funding</a:t>
            </a:r>
            <a:endParaRPr lang="en-US" sz="1300" dirty="0"/>
          </a:p>
        </p:txBody>
      </p:sp>
      <p:sp>
        <p:nvSpPr>
          <p:cNvPr id="9" name="Key 1-2"/>
          <p:cNvSpPr txBox="1"/>
          <p:nvPr/>
        </p:nvSpPr>
        <p:spPr>
          <a:xfrm>
            <a:off x="777240" y="2606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200" dirty="0"/>
          </a:p>
        </p:txBody>
      </p:sp>
      <p:sp>
        <p:nvSpPr>
          <p:cNvPr id="10" name="Value 1-2"/>
          <p:cNvSpPr txBox="1"/>
          <p:nvPr/>
        </p:nvSpPr>
        <p:spPr>
          <a:xfrm>
            <a:off x="1828800" y="26060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3,044 rows × 10 columns</a:t>
            </a:r>
            <a:endParaRPr lang="en-US" sz="1300" dirty="0"/>
          </a:p>
        </p:txBody>
      </p:sp>
      <p:sp>
        <p:nvSpPr>
          <p:cNvPr id="11" name="Key 1-3"/>
          <p:cNvSpPr txBox="1"/>
          <p:nvPr/>
        </p:nvSpPr>
        <p:spPr>
          <a:xfrm>
            <a:off x="777240" y="3246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used</a:t>
            </a:r>
            <a:endParaRPr lang="en-US" sz="1200" dirty="0"/>
          </a:p>
        </p:txBody>
      </p:sp>
      <p:sp>
        <p:nvSpPr>
          <p:cNvPr id="12" name="Value 1-3"/>
          <p:cNvSpPr txBox="1"/>
          <p:nvPr/>
        </p:nvSpPr>
        <p:spPr>
          <a:xfrm>
            <a:off x="1828800" y="32461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startup, industry, city, investors, investment type, amount (USD)</a:t>
            </a:r>
            <a:endParaRPr lang="en-US" sz="1300" dirty="0"/>
          </a:p>
        </p:txBody>
      </p:sp>
      <p:sp>
        <p:nvSpPr>
          <p:cNvPr id="13" name="Key 1-4"/>
          <p:cNvSpPr txBox="1"/>
          <p:nvPr/>
        </p:nvSpPr>
        <p:spPr>
          <a:xfrm>
            <a:off x="777240" y="3886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200" dirty="0"/>
          </a:p>
        </p:txBody>
      </p:sp>
      <p:sp>
        <p:nvSpPr>
          <p:cNvPr id="14" name="Value 1-4"/>
          <p:cNvSpPr txBox="1"/>
          <p:nvPr/>
        </p:nvSpPr>
        <p:spPr>
          <a:xfrm>
            <a:off x="1828800" y="3886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Jan 2015 to 13 Jan 2020</a:t>
            </a:r>
            <a:endParaRPr lang="en-US" sz="1300" dirty="0"/>
          </a:p>
        </p:txBody>
      </p:sp>
      <p:sp>
        <p:nvSpPr>
          <p:cNvPr id="15" name="Dataset card 2"/>
          <p:cNvSpPr/>
          <p:nvPr/>
        </p:nvSpPr>
        <p:spPr>
          <a:xfrm>
            <a:off x="4663440" y="1371600"/>
            <a:ext cx="393192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Dataset heading 2"/>
          <p:cNvSpPr txBox="1"/>
          <p:nvPr/>
        </p:nvSpPr>
        <p:spPr>
          <a:xfrm>
            <a:off x="489204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setup</a:t>
            </a:r>
            <a:endParaRPr lang="en-US" sz="1700" dirty="0"/>
          </a:p>
        </p:txBody>
      </p:sp>
      <p:sp>
        <p:nvSpPr>
          <p:cNvPr id="17" name="Key 2-1"/>
          <p:cNvSpPr txBox="1"/>
          <p:nvPr/>
        </p:nvSpPr>
        <p:spPr>
          <a:xfrm>
            <a:off x="4892040" y="19659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18" name="Value 2-1"/>
          <p:cNvSpPr txBox="1"/>
          <p:nvPr/>
        </p:nvSpPr>
        <p:spPr>
          <a:xfrm>
            <a:off x="5943600" y="19659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amount_category: Higher or Lower than the median amount</a:t>
            </a:r>
            <a:endParaRPr lang="en-US" sz="1300" dirty="0"/>
          </a:p>
        </p:txBody>
      </p:sp>
      <p:sp>
        <p:nvSpPr>
          <p:cNvPr id="19" name="Key 2-2"/>
          <p:cNvSpPr txBox="1"/>
          <p:nvPr/>
        </p:nvSpPr>
        <p:spPr>
          <a:xfrm>
            <a:off x="4892040" y="2606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0" name="Value 2-2"/>
          <p:cNvSpPr txBox="1"/>
          <p:nvPr/>
        </p:nvSpPr>
        <p:spPr>
          <a:xfrm>
            <a:off x="5943600" y="26060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city, investment type, year</a:t>
            </a:r>
            <a:endParaRPr lang="en-US" sz="1300" dirty="0"/>
          </a:p>
        </p:txBody>
      </p:sp>
      <p:sp>
        <p:nvSpPr>
          <p:cNvPr id="21" name="Key 2-3"/>
          <p:cNvSpPr txBox="1"/>
          <p:nvPr/>
        </p:nvSpPr>
        <p:spPr>
          <a:xfrm>
            <a:off x="4892040" y="3246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used</a:t>
            </a:r>
            <a:endParaRPr lang="en-US" sz="1200" dirty="0"/>
          </a:p>
        </p:txBody>
      </p:sp>
      <p:sp>
        <p:nvSpPr>
          <p:cNvPr id="22" name="Value 2-3"/>
          <p:cNvSpPr txBox="1"/>
          <p:nvPr/>
        </p:nvSpPr>
        <p:spPr>
          <a:xfrm>
            <a:off x="5943600" y="32461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2,071 with a valid amount and date</a:t>
            </a:r>
            <a:endParaRPr lang="en-US" sz="1300" dirty="0"/>
          </a:p>
        </p:txBody>
      </p:sp>
      <p:sp>
        <p:nvSpPr>
          <p:cNvPr id="23" name="Key 2-4"/>
          <p:cNvSpPr txBox="1"/>
          <p:nvPr/>
        </p:nvSpPr>
        <p:spPr>
          <a:xfrm>
            <a:off x="4892040" y="3886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24" name="Value 2-4"/>
          <p:cNvSpPr txBox="1"/>
          <p:nvPr/>
        </p:nvSpPr>
        <p:spPr>
          <a:xfrm>
            <a:off x="5943600" y="3886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startups only, no rejected ones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3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 Preparation</a:t>
            </a:r>
            <a:endParaRPr lang="en-US" sz="28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messy raw file to analysis-ready data</a:t>
            </a:r>
            <a:endParaRPr lang="en-US" sz="1400" dirty="0"/>
          </a:p>
        </p:txBody>
      </p:sp>
      <p:sp>
        <p:nvSpPr>
          <p:cNvPr id="5" name="Stat card 1"/>
          <p:cNvSpPr/>
          <p:nvPr/>
        </p:nvSpPr>
        <p:spPr>
          <a:xfrm>
            <a:off x="548640" y="137160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Stat value 1"/>
          <p:cNvSpPr txBox="1"/>
          <p:nvPr/>
        </p:nvSpPr>
        <p:spPr>
          <a:xfrm>
            <a:off x="548640" y="1444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3,044</a:t>
            </a:r>
            <a:endParaRPr lang="en-US" sz="3200" dirty="0"/>
          </a:p>
        </p:txBody>
      </p:sp>
      <p:sp>
        <p:nvSpPr>
          <p:cNvPr id="7" name="Stat label 1"/>
          <p:cNvSpPr txBox="1"/>
          <p:nvPr/>
        </p:nvSpPr>
        <p:spPr>
          <a:xfrm>
            <a:off x="64008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8" name="Stat card 2"/>
          <p:cNvSpPr/>
          <p:nvPr/>
        </p:nvSpPr>
        <p:spPr>
          <a:xfrm>
            <a:off x="2633472" y="137160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Stat value 2"/>
          <p:cNvSpPr txBox="1"/>
          <p:nvPr/>
        </p:nvSpPr>
        <p:spPr>
          <a:xfrm>
            <a:off x="2633472" y="1444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971</a:t>
            </a:r>
            <a:endParaRPr lang="en-US" sz="3200" dirty="0"/>
          </a:p>
        </p:txBody>
      </p:sp>
      <p:sp>
        <p:nvSpPr>
          <p:cNvPr id="10" name="Stat label 2"/>
          <p:cNvSpPr txBox="1"/>
          <p:nvPr/>
        </p:nvSpPr>
        <p:spPr>
          <a:xfrm>
            <a:off x="2724912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amounts (31.9%)</a:t>
            </a:r>
            <a:endParaRPr lang="en-US" sz="1200" dirty="0"/>
          </a:p>
        </p:txBody>
      </p:sp>
      <p:sp>
        <p:nvSpPr>
          <p:cNvPr id="11" name="Stat card 3"/>
          <p:cNvSpPr/>
          <p:nvPr/>
        </p:nvSpPr>
        <p:spPr>
          <a:xfrm>
            <a:off x="4718304" y="137160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Stat value 3"/>
          <p:cNvSpPr txBox="1"/>
          <p:nvPr/>
        </p:nvSpPr>
        <p:spPr>
          <a:xfrm>
            <a:off x="4718304" y="1444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2,073</a:t>
            </a:r>
            <a:endParaRPr lang="en-US" sz="3200" dirty="0"/>
          </a:p>
        </p:txBody>
      </p:sp>
      <p:sp>
        <p:nvSpPr>
          <p:cNvPr id="13" name="Stat label 3"/>
          <p:cNvSpPr txBox="1"/>
          <p:nvPr/>
        </p:nvSpPr>
        <p:spPr>
          <a:xfrm>
            <a:off x="4809744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amounts</a:t>
            </a:r>
            <a:endParaRPr lang="en-US" sz="1200" dirty="0"/>
          </a:p>
        </p:txBody>
      </p:sp>
      <p:sp>
        <p:nvSpPr>
          <p:cNvPr id="14" name="Stat card 4"/>
          <p:cNvSpPr/>
          <p:nvPr/>
        </p:nvSpPr>
        <p:spPr>
          <a:xfrm>
            <a:off x="6803136" y="137160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tat value 4"/>
          <p:cNvSpPr txBox="1"/>
          <p:nvPr/>
        </p:nvSpPr>
        <p:spPr>
          <a:xfrm>
            <a:off x="6803136" y="1444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Stat label 4"/>
          <p:cNvSpPr txBox="1"/>
          <p:nvPr/>
        </p:nvSpPr>
        <p:spPr>
          <a:xfrm>
            <a:off x="6894576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200" dirty="0"/>
          </a:p>
        </p:txBody>
      </p:sp>
      <p:sp>
        <p:nvSpPr>
          <p:cNvPr id="17" name="Step card 1"/>
          <p:cNvSpPr/>
          <p:nvPr/>
        </p:nvSpPr>
        <p:spPr>
          <a:xfrm>
            <a:off x="548640" y="2697480"/>
            <a:ext cx="393192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Step 1 badge"/>
          <p:cNvSpPr/>
          <p:nvPr/>
        </p:nvSpPr>
        <p:spPr>
          <a:xfrm>
            <a:off x="685800" y="2926080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9" name="Step 1 number"/>
          <p:cNvSpPr txBox="1"/>
          <p:nvPr/>
        </p:nvSpPr>
        <p:spPr>
          <a:xfrm>
            <a:off x="6858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0" name="Step title 1"/>
          <p:cNvSpPr txBox="1"/>
          <p:nvPr/>
        </p:nvSpPr>
        <p:spPr>
          <a:xfrm>
            <a:off x="118872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escape junk</a:t>
            </a:r>
            <a:endParaRPr lang="en-US" sz="1500" dirty="0"/>
          </a:p>
        </p:txBody>
      </p:sp>
      <p:sp>
        <p:nvSpPr>
          <p:cNvPr id="21" name="Step text 1"/>
          <p:cNvSpPr txBox="1"/>
          <p:nvPr/>
        </p:nvSpPr>
        <p:spPr>
          <a:xfrm>
            <a:off x="118872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stray \xc2\xa0 and \n sequences</a:t>
            </a:r>
            <a:endParaRPr lang="en-US" sz="1200" dirty="0"/>
          </a:p>
        </p:txBody>
      </p:sp>
      <p:sp>
        <p:nvSpPr>
          <p:cNvPr id="22" name="Step card 2"/>
          <p:cNvSpPr/>
          <p:nvPr/>
        </p:nvSpPr>
        <p:spPr>
          <a:xfrm>
            <a:off x="4663440" y="2697480"/>
            <a:ext cx="393192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Step 2 badge"/>
          <p:cNvSpPr/>
          <p:nvPr/>
        </p:nvSpPr>
        <p:spPr>
          <a:xfrm>
            <a:off x="4800600" y="2926080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4" name="Step 2 number"/>
          <p:cNvSpPr txBox="1"/>
          <p:nvPr/>
        </p:nvSpPr>
        <p:spPr>
          <a:xfrm>
            <a:off x="48006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5" name="Step title 2"/>
          <p:cNvSpPr txBox="1"/>
          <p:nvPr/>
        </p:nvSpPr>
        <p:spPr>
          <a:xfrm>
            <a:off x="530352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labels</a:t>
            </a:r>
            <a:endParaRPr lang="en-US" sz="1500" dirty="0"/>
          </a:p>
        </p:txBody>
      </p:sp>
      <p:sp>
        <p:nvSpPr>
          <p:cNvPr id="26" name="Step text 2"/>
          <p:cNvSpPr txBox="1"/>
          <p:nvPr/>
        </p:nvSpPr>
        <p:spPr>
          <a:xfrm>
            <a:off x="530352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Bengaluru→Bangalore, eCommerce spellings, Seed/Angel</a:t>
            </a:r>
            <a:endParaRPr lang="en-US" sz="1200" dirty="0"/>
          </a:p>
        </p:txBody>
      </p:sp>
      <p:sp>
        <p:nvSpPr>
          <p:cNvPr id="27" name="Step card 3"/>
          <p:cNvSpPr/>
          <p:nvPr/>
        </p:nvSpPr>
        <p:spPr>
          <a:xfrm>
            <a:off x="548640" y="3657600"/>
            <a:ext cx="393192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Step 3 badge"/>
          <p:cNvSpPr/>
          <p:nvPr/>
        </p:nvSpPr>
        <p:spPr>
          <a:xfrm>
            <a:off x="685800" y="3886200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9" name="Step 3 number"/>
          <p:cNvSpPr txBox="1"/>
          <p:nvPr/>
        </p:nvSpPr>
        <p:spPr>
          <a:xfrm>
            <a:off x="6858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0" name="Step title 3"/>
          <p:cNvSpPr txBox="1"/>
          <p:nvPr/>
        </p:nvSpPr>
        <p:spPr>
          <a:xfrm>
            <a:off x="118872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amounts and dates</a:t>
            </a:r>
            <a:endParaRPr lang="en-US" sz="1500" dirty="0"/>
          </a:p>
        </p:txBody>
      </p:sp>
      <p:sp>
        <p:nvSpPr>
          <p:cNvPr id="31" name="Step text 3"/>
          <p:cNvSpPr txBox="1"/>
          <p:nvPr/>
        </p:nvSpPr>
        <p:spPr>
          <a:xfrm>
            <a:off x="118872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commas, "undisclosed"→NA, parse dd/mm/yyyy</a:t>
            </a:r>
            <a:endParaRPr lang="en-US" sz="1200" dirty="0"/>
          </a:p>
        </p:txBody>
      </p:sp>
      <p:sp>
        <p:nvSpPr>
          <p:cNvPr id="32" name="Step card 4"/>
          <p:cNvSpPr/>
          <p:nvPr/>
        </p:nvSpPr>
        <p:spPr>
          <a:xfrm>
            <a:off x="4663440" y="3657600"/>
            <a:ext cx="393192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3" name="Step 4 badge"/>
          <p:cNvSpPr/>
          <p:nvPr/>
        </p:nvSpPr>
        <p:spPr>
          <a:xfrm>
            <a:off x="4800600" y="3886200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34" name="Step 4 number"/>
          <p:cNvSpPr txBox="1"/>
          <p:nvPr/>
        </p:nvSpPr>
        <p:spPr>
          <a:xfrm>
            <a:off x="48006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5" name="Step title 4"/>
          <p:cNvSpPr txBox="1"/>
          <p:nvPr/>
        </p:nvSpPr>
        <p:spPr>
          <a:xfrm>
            <a:off x="530352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500" dirty="0"/>
          </a:p>
        </p:txBody>
      </p:sp>
      <p:sp>
        <p:nvSpPr>
          <p:cNvPr id="36" name="Step text 4"/>
          <p:cNvSpPr txBox="1"/>
          <p:nvPr/>
        </p:nvSpPr>
        <p:spPr>
          <a:xfrm>
            <a:off x="530352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categories become "Unknown"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3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Proposed Methodology</a:t>
            </a:r>
            <a:endParaRPr lang="en-US" sz="28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from raw data to dashboard</a:t>
            </a:r>
            <a:endParaRPr lang="en-US" sz="1400" dirty="0"/>
          </a:p>
        </p:txBody>
      </p:sp>
      <p:sp>
        <p:nvSpPr>
          <p:cNvPr id="5" name="Method row 1"/>
          <p:cNvSpPr/>
          <p:nvPr/>
        </p:nvSpPr>
        <p:spPr>
          <a:xfrm>
            <a:off x="548640" y="1371600"/>
            <a:ext cx="804672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Method 1 badge"/>
          <p:cNvSpPr/>
          <p:nvPr/>
        </p:nvSpPr>
        <p:spPr>
          <a:xfrm>
            <a:off x="731520" y="1527048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7" name="Method 1 number"/>
          <p:cNvSpPr txBox="1"/>
          <p:nvPr/>
        </p:nvSpPr>
        <p:spPr>
          <a:xfrm>
            <a:off x="73152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Method title 1"/>
          <p:cNvSpPr txBox="1"/>
          <p:nvPr/>
        </p:nvSpPr>
        <p:spPr>
          <a:xfrm>
            <a:off x="128016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400" dirty="0"/>
          </a:p>
        </p:txBody>
      </p:sp>
      <p:sp>
        <p:nvSpPr>
          <p:cNvPr id="9" name="Method detail 1"/>
          <p:cNvSpPr txBox="1"/>
          <p:nvPr/>
        </p:nvSpPr>
        <p:spPr>
          <a:xfrm>
            <a:off x="1280160" y="1755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app.R · prepare_data()</a:t>
            </a:r>
            <a:endParaRPr lang="en-US" sz="1100" dirty="0"/>
          </a:p>
        </p:txBody>
      </p:sp>
      <p:sp>
        <p:nvSpPr>
          <p:cNvPr id="10" name="Method text 1"/>
          <p:cNvSpPr txBox="1"/>
          <p:nvPr/>
        </p:nvSpPr>
        <p:spPr>
          <a:xfrm>
            <a:off x="4023360" y="144475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removal · label standardisation · amount and date parsing · duplicate check</a:t>
            </a:r>
            <a:endParaRPr lang="en-US" sz="1200" dirty="0"/>
          </a:p>
        </p:txBody>
      </p:sp>
      <p:sp>
        <p:nvSpPr>
          <p:cNvPr id="11" name="Method row 2"/>
          <p:cNvSpPr/>
          <p:nvPr/>
        </p:nvSpPr>
        <p:spPr>
          <a:xfrm>
            <a:off x="548640" y="2157984"/>
            <a:ext cx="804672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Method 2 badge"/>
          <p:cNvSpPr/>
          <p:nvPr/>
        </p:nvSpPr>
        <p:spPr>
          <a:xfrm>
            <a:off x="731520" y="2313432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3" name="Method 2 number"/>
          <p:cNvSpPr txBox="1"/>
          <p:nvPr/>
        </p:nvSpPr>
        <p:spPr>
          <a:xfrm>
            <a:off x="73152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Method title 2"/>
          <p:cNvSpPr txBox="1"/>
          <p:nvPr/>
        </p:nvSpPr>
        <p:spPr>
          <a:xfrm>
            <a:off x="1280160" y="22494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Visualisation</a:t>
            </a:r>
            <a:endParaRPr lang="en-US" sz="1400" dirty="0"/>
          </a:p>
        </p:txBody>
      </p:sp>
      <p:sp>
        <p:nvSpPr>
          <p:cNvPr id="15" name="Method detail 2"/>
          <p:cNvSpPr txBox="1"/>
          <p:nvPr/>
        </p:nvSpPr>
        <p:spPr>
          <a:xfrm>
            <a:off x="1280160" y="25420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 inside Shiny</a:t>
            </a:r>
            <a:endParaRPr lang="en-US" sz="1100" dirty="0"/>
          </a:p>
        </p:txBody>
      </p:sp>
      <p:sp>
        <p:nvSpPr>
          <p:cNvPr id="16" name="Method text 2"/>
          <p:cNvSpPr txBox="1"/>
          <p:nvPr/>
        </p:nvSpPr>
        <p:spPr>
          <a:xfrm>
            <a:off x="4023360" y="223113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by year, industry, city, investment type and investors · summary tables</a:t>
            </a:r>
            <a:endParaRPr lang="en-US" sz="1200" dirty="0"/>
          </a:p>
        </p:txBody>
      </p:sp>
      <p:sp>
        <p:nvSpPr>
          <p:cNvPr id="17" name="Method row 3"/>
          <p:cNvSpPr/>
          <p:nvPr/>
        </p:nvSpPr>
        <p:spPr>
          <a:xfrm>
            <a:off x="548640" y="2944368"/>
            <a:ext cx="804672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Method 3 badge"/>
          <p:cNvSpPr/>
          <p:nvPr/>
        </p:nvSpPr>
        <p:spPr>
          <a:xfrm>
            <a:off x="731520" y="3099816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9" name="Method 3 number"/>
          <p:cNvSpPr txBox="1"/>
          <p:nvPr/>
        </p:nvSpPr>
        <p:spPr>
          <a:xfrm>
            <a:off x="73152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Method title 3"/>
          <p:cNvSpPr txBox="1"/>
          <p:nvPr/>
        </p:nvSpPr>
        <p:spPr>
          <a:xfrm>
            <a:off x="1280160" y="3035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400" dirty="0"/>
          </a:p>
        </p:txBody>
      </p:sp>
      <p:sp>
        <p:nvSpPr>
          <p:cNvPr id="21" name="Method detail 3"/>
          <p:cNvSpPr txBox="1"/>
          <p:nvPr/>
        </p:nvSpPr>
        <p:spPr>
          <a:xfrm>
            <a:off x="1280160" y="33284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randomForest, ntree = 300</a:t>
            </a:r>
            <a:endParaRPr lang="en-US" sz="1100" dirty="0"/>
          </a:p>
        </p:txBody>
      </p:sp>
      <p:sp>
        <p:nvSpPr>
          <p:cNvPr id="22" name="Method text 3"/>
          <p:cNvSpPr txBox="1"/>
          <p:nvPr/>
        </p:nvSpPr>
        <p:spPr>
          <a:xfrm>
            <a:off x="4023360" y="301752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split, set.seed(123) · industry, city, investment type, year · target Higher / Lower</a:t>
            </a:r>
            <a:endParaRPr lang="en-US" sz="1200" dirty="0"/>
          </a:p>
        </p:txBody>
      </p:sp>
      <p:sp>
        <p:nvSpPr>
          <p:cNvPr id="23" name="Method row 4"/>
          <p:cNvSpPr/>
          <p:nvPr/>
        </p:nvSpPr>
        <p:spPr>
          <a:xfrm>
            <a:off x="548640" y="3730752"/>
            <a:ext cx="804672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Method 4 badge"/>
          <p:cNvSpPr/>
          <p:nvPr/>
        </p:nvSpPr>
        <p:spPr>
          <a:xfrm>
            <a:off x="731520" y="3886200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5" name="Method 4 number"/>
          <p:cNvSpPr txBox="1"/>
          <p:nvPr/>
        </p:nvSpPr>
        <p:spPr>
          <a:xfrm>
            <a:off x="73152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Method title 4"/>
          <p:cNvSpPr txBox="1"/>
          <p:nvPr/>
        </p:nvSpPr>
        <p:spPr>
          <a:xfrm>
            <a:off x="1280160" y="3822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Versions</a:t>
            </a:r>
            <a:endParaRPr lang="en-US" sz="1400" dirty="0"/>
          </a:p>
        </p:txBody>
      </p:sp>
      <p:sp>
        <p:nvSpPr>
          <p:cNvPr id="27" name="Method detail 4"/>
          <p:cNvSpPr txBox="1"/>
          <p:nvPr/>
        </p:nvSpPr>
        <p:spPr>
          <a:xfrm>
            <a:off x="1280160" y="4114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shiny, shinydashboard</a:t>
            </a:r>
            <a:endParaRPr lang="en-US" sz="1100" dirty="0"/>
          </a:p>
        </p:txBody>
      </p:sp>
      <p:sp>
        <p:nvSpPr>
          <p:cNvPr id="28" name="Method text 4"/>
          <p:cNvSpPr txBox="1"/>
          <p:nvPr/>
        </p:nvSpPr>
        <p:spPr>
          <a:xfrm>
            <a:off x="4023360" y="380390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tabs, 4 filters, CSV download · named versions app_v1_original.R and app_v2_cleaned.R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3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End-to-End System Flow</a:t>
            </a:r>
            <a:endParaRPr lang="en-US" sz="2800" dirty="0"/>
          </a:p>
        </p:txBody>
      </p:sp>
      <p:sp>
        <p:nvSpPr>
          <p:cNvPr id="4" name="Flow input"/>
          <p:cNvSpPr/>
          <p:nvPr/>
        </p:nvSpPr>
        <p:spPr>
          <a:xfrm>
            <a:off x="548640" y="2331720"/>
            <a:ext cx="1554480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Flow input text"/>
          <p:cNvSpPr txBox="1"/>
          <p:nvPr/>
        </p:nvSpPr>
        <p:spPr>
          <a:xfrm>
            <a:off x="621792" y="233172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Kaggle CSV file</a:t>
            </a:r>
            <a:endParaRPr lang="en-US" sz="1400" dirty="0"/>
          </a:p>
        </p:txBody>
      </p:sp>
      <p:sp>
        <p:nvSpPr>
          <p:cNvPr id="6" name="Flow clean"/>
          <p:cNvSpPr/>
          <p:nvPr/>
        </p:nvSpPr>
        <p:spPr>
          <a:xfrm>
            <a:off x="2514600" y="2331720"/>
            <a:ext cx="1554480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Flow clean text"/>
          <p:cNvSpPr txBox="1"/>
          <p:nvPr/>
        </p:nvSpPr>
        <p:spPr>
          <a:xfrm>
            <a:off x="2587752" y="233172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Standardise</a:t>
            </a:r>
            <a:endParaRPr lang="en-US" sz="1400" dirty="0"/>
          </a:p>
        </p:txBody>
      </p:sp>
      <p:sp>
        <p:nvSpPr>
          <p:cNvPr id="8" name="Flow analysis"/>
          <p:cNvSpPr/>
          <p:nvPr/>
        </p:nvSpPr>
        <p:spPr>
          <a:xfrm>
            <a:off x="4480560" y="1600200"/>
            <a:ext cx="1828800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Flow analysis text"/>
          <p:cNvSpPr txBox="1"/>
          <p:nvPr/>
        </p:nvSpPr>
        <p:spPr>
          <a:xfrm>
            <a:off x="4553712" y="160020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Charts</a:t>
            </a:r>
            <a:endParaRPr lang="en-US" sz="1400" dirty="0"/>
          </a:p>
        </p:txBody>
      </p:sp>
      <p:sp>
        <p:nvSpPr>
          <p:cNvPr id="10" name="Flow model"/>
          <p:cNvSpPr/>
          <p:nvPr/>
        </p:nvSpPr>
        <p:spPr>
          <a:xfrm>
            <a:off x="4480560" y="3154680"/>
            <a:ext cx="1828800" cy="82296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Flow model text"/>
          <p:cNvSpPr txBox="1"/>
          <p:nvPr/>
        </p:nvSpPr>
        <p:spPr>
          <a:xfrm>
            <a:off x="4553712" y="315468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</a:t>
            </a:r>
            <a:endParaRPr lang="en-US" sz="1400" dirty="0"/>
          </a:p>
        </p:txBody>
      </p:sp>
      <p:sp>
        <p:nvSpPr>
          <p:cNvPr id="12" name="Flow dashboard"/>
          <p:cNvSpPr/>
          <p:nvPr/>
        </p:nvSpPr>
        <p:spPr>
          <a:xfrm>
            <a:off x="6720840" y="2331720"/>
            <a:ext cx="1874520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Flow dashboard text"/>
          <p:cNvSpPr txBox="1"/>
          <p:nvPr/>
        </p:nvSpPr>
        <p:spPr>
          <a:xfrm>
            <a:off x="6793992" y="2331720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Dashboard</a:t>
            </a:r>
            <a:endParaRPr lang="en-US" sz="1400" dirty="0"/>
          </a:p>
        </p:txBody>
      </p:sp>
      <p:sp>
        <p:nvSpPr>
          <p:cNvPr id="14" name="Arrow 1"/>
          <p:cNvSpPr/>
          <p:nvPr/>
        </p:nvSpPr>
        <p:spPr>
          <a:xfrm>
            <a:off x="2103120" y="2788920"/>
            <a:ext cx="41148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Arrow 2"/>
          <p:cNvSpPr/>
          <p:nvPr/>
        </p:nvSpPr>
        <p:spPr>
          <a:xfrm flipV="1">
            <a:off x="4069080" y="2011680"/>
            <a:ext cx="411480" cy="77724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Arrow 3"/>
          <p:cNvSpPr/>
          <p:nvPr/>
        </p:nvSpPr>
        <p:spPr>
          <a:xfrm>
            <a:off x="4069080" y="2788920"/>
            <a:ext cx="411480" cy="77724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Arrow 4"/>
          <p:cNvSpPr/>
          <p:nvPr/>
        </p:nvSpPr>
        <p:spPr>
          <a:xfrm>
            <a:off x="6309360" y="2011680"/>
            <a:ext cx="411480" cy="59436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Arrow 5"/>
          <p:cNvSpPr/>
          <p:nvPr/>
        </p:nvSpPr>
        <p:spPr>
          <a:xfrm flipV="1">
            <a:off x="6309360" y="2971800"/>
            <a:ext cx="411480" cy="59436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Flow caption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output: filters · charts · model metrics · "Try a Prediction" form · filtered CSV download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3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Funding Patterns</a:t>
            </a:r>
            <a:endParaRPr lang="en-US" sz="28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peaked in 2016 and is concentrated in four cities</a:t>
            </a:r>
            <a:endParaRPr lang="en-US" sz="1400" dirty="0"/>
          </a:p>
        </p:txBody>
      </p:sp>
      <p:sp>
        <p:nvSpPr>
          <p:cNvPr id="5" name="Year chart card"/>
          <p:cNvSpPr/>
          <p:nvPr/>
        </p:nvSpPr>
        <p:spPr>
          <a:xfrm>
            <a:off x="548640" y="1371600"/>
            <a:ext cx="393192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Year chart heading"/>
          <p:cNvSpPr txBox="1"/>
          <p:nvPr/>
        </p:nvSpPr>
        <p:spPr>
          <a:xfrm>
            <a:off x="73152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records by year</a:t>
            </a:r>
            <a:endParaRPr lang="en-US" sz="1400" dirty="0"/>
          </a:p>
        </p:txBody>
      </p:sp>
      <p:graphicFrame>
        <p:nvGraphicFramePr>
          <p:cNvPr id="7" name="Year chart" descr=""/>
          <p:cNvGraphicFramePr/>
          <p:nvPr/>
        </p:nvGraphicFramePr>
        <p:xfrm>
          <a:off x="685800" y="1783080"/>
          <a:ext cx="36576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ity chart card"/>
          <p:cNvSpPr/>
          <p:nvPr/>
        </p:nvSpPr>
        <p:spPr>
          <a:xfrm>
            <a:off x="4663440" y="1371600"/>
            <a:ext cx="393192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City chart heading"/>
          <p:cNvSpPr txBox="1"/>
          <p:nvPr/>
        </p:nvSpPr>
        <p:spPr>
          <a:xfrm>
            <a:off x="484632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cities by records</a:t>
            </a:r>
            <a:endParaRPr lang="en-US" sz="1400" dirty="0"/>
          </a:p>
        </p:txBody>
      </p:sp>
      <p:graphicFrame>
        <p:nvGraphicFramePr>
          <p:cNvPr id="10" name="City chart" descr=""/>
          <p:cNvGraphicFramePr/>
          <p:nvPr/>
        </p:nvGraphicFramePr>
        <p:xfrm>
          <a:off x="4800600" y="1783080"/>
          <a:ext cx="36576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akeaway"/>
          <p:cNvSpPr txBox="1"/>
          <p:nvPr/>
        </p:nvSpPr>
        <p:spPr>
          <a:xfrm>
            <a:off x="548640" y="42245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Bangalore, Mumbai, New Delhi and Gurgaon account for about 73% of records. 2020 covers January only.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3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Industries &amp; Investors</a:t>
            </a:r>
            <a:endParaRPr lang="en-US" sz="28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sectors and repeat investors dominate recorded deals</a:t>
            </a:r>
            <a:endParaRPr lang="en-US" sz="1400" dirty="0"/>
          </a:p>
        </p:txBody>
      </p:sp>
      <p:sp>
        <p:nvSpPr>
          <p:cNvPr id="5" name="Industry chart card"/>
          <p:cNvSpPr/>
          <p:nvPr/>
        </p:nvSpPr>
        <p:spPr>
          <a:xfrm>
            <a:off x="548640" y="1371600"/>
            <a:ext cx="393192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Industry chart heading"/>
          <p:cNvSpPr txBox="1"/>
          <p:nvPr/>
        </p:nvSpPr>
        <p:spPr>
          <a:xfrm>
            <a:off x="73152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industries by records</a:t>
            </a:r>
            <a:endParaRPr lang="en-US" sz="1400" dirty="0"/>
          </a:p>
        </p:txBody>
      </p:sp>
      <p:graphicFrame>
        <p:nvGraphicFramePr>
          <p:cNvPr id="7" name="Industry chart" descr=""/>
          <p:cNvGraphicFramePr/>
          <p:nvPr/>
        </p:nvGraphicFramePr>
        <p:xfrm>
          <a:off x="685800" y="1783080"/>
          <a:ext cx="36576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Investor chart card"/>
          <p:cNvSpPr/>
          <p:nvPr/>
        </p:nvSpPr>
        <p:spPr>
          <a:xfrm>
            <a:off x="4663440" y="1371600"/>
            <a:ext cx="393192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Investor chart heading"/>
          <p:cNvSpPr txBox="1"/>
          <p:nvPr/>
        </p:nvSpPr>
        <p:spPr>
          <a:xfrm>
            <a:off x="484632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investors</a:t>
            </a:r>
            <a:endParaRPr lang="en-US" sz="1400" dirty="0"/>
          </a:p>
        </p:txBody>
      </p:sp>
      <p:graphicFrame>
        <p:nvGraphicFramePr>
          <p:cNvPr id="10" name="Investor chart" descr=""/>
          <p:cNvGraphicFramePr/>
          <p:nvPr/>
        </p:nvGraphicFramePr>
        <p:xfrm>
          <a:off x="4800600" y="1783080"/>
          <a:ext cx="36576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akeaway"/>
          <p:cNvSpPr txBox="1"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deal is 1.75 million USD against a mean of 18.4 million: a few very large deals skew the totals. "Undisclosed Investors" is excluded.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3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Model Performance</a:t>
            </a:r>
            <a:endParaRPr lang="en-US" sz="28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415 test records, Higher vs Lower than the median amount</a:t>
            </a:r>
            <a:endParaRPr lang="en-US" sz="1400" dirty="0"/>
          </a:p>
        </p:txBody>
      </p:sp>
      <p:sp>
        <p:nvSpPr>
          <p:cNvPr id="5" name="Metric card 1"/>
          <p:cNvSpPr/>
          <p:nvPr/>
        </p:nvSpPr>
        <p:spPr>
          <a:xfrm>
            <a:off x="548640" y="137160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Metric value 1"/>
          <p:cNvSpPr txBox="1"/>
          <p:nvPr/>
        </p:nvSpPr>
        <p:spPr>
          <a:xfrm>
            <a:off x="548640" y="14813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85.8%</a:t>
            </a:r>
            <a:endParaRPr lang="en-US" sz="3000" dirty="0"/>
          </a:p>
        </p:txBody>
      </p:sp>
      <p:sp>
        <p:nvSpPr>
          <p:cNvPr id="7" name="Metric label 1"/>
          <p:cNvSpPr txBox="1"/>
          <p:nvPr/>
        </p:nvSpPr>
        <p:spPr>
          <a:xfrm>
            <a:off x="548640" y="21214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Metric card 2"/>
          <p:cNvSpPr/>
          <p:nvPr/>
        </p:nvSpPr>
        <p:spPr>
          <a:xfrm>
            <a:off x="2560320" y="137160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Metric value 2"/>
          <p:cNvSpPr txBox="1"/>
          <p:nvPr/>
        </p:nvSpPr>
        <p:spPr>
          <a:xfrm>
            <a:off x="2560320" y="14813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0.780</a:t>
            </a:r>
            <a:endParaRPr lang="en-US" sz="3000" dirty="0"/>
          </a:p>
        </p:txBody>
      </p:sp>
      <p:sp>
        <p:nvSpPr>
          <p:cNvPr id="10" name="Metric label 2"/>
          <p:cNvSpPr txBox="1"/>
          <p:nvPr/>
        </p:nvSpPr>
        <p:spPr>
          <a:xfrm>
            <a:off x="2560320" y="21214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(Higher)</a:t>
            </a:r>
            <a:endParaRPr lang="en-US" sz="1200" dirty="0"/>
          </a:p>
        </p:txBody>
      </p:sp>
      <p:sp>
        <p:nvSpPr>
          <p:cNvPr id="11" name="Metric card 3"/>
          <p:cNvSpPr/>
          <p:nvPr/>
        </p:nvSpPr>
        <p:spPr>
          <a:xfrm>
            <a:off x="548640" y="269748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Metric value 3"/>
          <p:cNvSpPr txBox="1"/>
          <p:nvPr/>
        </p:nvSpPr>
        <p:spPr>
          <a:xfrm>
            <a:off x="548640" y="280720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0.980</a:t>
            </a:r>
            <a:endParaRPr lang="en-US" sz="3000" dirty="0"/>
          </a:p>
        </p:txBody>
      </p:sp>
      <p:sp>
        <p:nvSpPr>
          <p:cNvPr id="13" name="Metric label 3"/>
          <p:cNvSpPr txBox="1"/>
          <p:nvPr/>
        </p:nvSpPr>
        <p:spPr>
          <a:xfrm>
            <a:off x="548640" y="34472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(Higher)</a:t>
            </a:r>
            <a:endParaRPr lang="en-US" sz="1200" dirty="0"/>
          </a:p>
        </p:txBody>
      </p:sp>
      <p:sp>
        <p:nvSpPr>
          <p:cNvPr id="14" name="Metric card 4"/>
          <p:cNvSpPr/>
          <p:nvPr/>
        </p:nvSpPr>
        <p:spPr>
          <a:xfrm>
            <a:off x="2560320" y="269748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Metric value 4"/>
          <p:cNvSpPr txBox="1"/>
          <p:nvPr/>
        </p:nvSpPr>
        <p:spPr>
          <a:xfrm>
            <a:off x="2560320" y="280720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0.869</a:t>
            </a:r>
            <a:endParaRPr lang="en-US" sz="3000" dirty="0"/>
          </a:p>
        </p:txBody>
      </p:sp>
      <p:sp>
        <p:nvSpPr>
          <p:cNvPr id="16" name="Metric label 4"/>
          <p:cNvSpPr txBox="1"/>
          <p:nvPr/>
        </p:nvSpPr>
        <p:spPr>
          <a:xfrm>
            <a:off x="2560320" y="34472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(Higher)</a:t>
            </a:r>
            <a:endParaRPr lang="en-US" sz="1200" dirty="0"/>
          </a:p>
        </p:txBody>
      </p:sp>
      <p:sp>
        <p:nvSpPr>
          <p:cNvPr id="17" name="Confusion card"/>
          <p:cNvSpPr/>
          <p:nvPr/>
        </p:nvSpPr>
        <p:spPr>
          <a:xfrm>
            <a:off x="4663440" y="1371600"/>
            <a:ext cx="39319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Confusion heading"/>
          <p:cNvSpPr txBox="1"/>
          <p:nvPr/>
        </p:nvSpPr>
        <p:spPr>
          <a:xfrm>
            <a:off x="484632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set)</a:t>
            </a:r>
            <a:endParaRPr lang="en-US" sz="1400" dirty="0"/>
          </a:p>
        </p:txBody>
      </p:sp>
      <p:graphicFrame>
        <p:nvGraphicFramePr>
          <p:cNvPr id="11" name="Confus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874520"/>
          <a:ext cx="3566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\ Predicted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0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0D8"/>
                    </a:solidFill>
                  </a:tcPr>
                </a:tc>
              </a:tr>
            </a:tbl>
          </a:graphicData>
        </a:graphic>
      </p:graphicFrame>
      <p:sp>
        <p:nvSpPr>
          <p:cNvPr id="20" name="Confusion note"/>
          <p:cNvSpPr txBox="1"/>
          <p:nvPr/>
        </p:nvSpPr>
        <p:spPr>
          <a:xfrm>
            <a:off x="4846320" y="3337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195 of 199 large deals; 55 small deals are wrongly called Higher.</a:t>
            </a:r>
            <a:endParaRPr lang="en-US" sz="1200" dirty="0"/>
          </a:p>
        </p:txBody>
      </p:sp>
      <p:sp>
        <p:nvSpPr>
          <p:cNvPr id="21" name="Version strip"/>
          <p:cNvSpPr/>
          <p:nvPr/>
        </p:nvSpPr>
        <p:spPr>
          <a:xfrm>
            <a:off x="548640" y="402336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2" name="Version text"/>
          <p:cNvSpPr txBox="1"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(investment type not detected): accuracy 0.60   →   Version 2 (cleaned data): accuracy 0.858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3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Drives the Prediction</a:t>
            </a:r>
            <a:endParaRPr lang="en-US" sz="28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from the dashboard (Mean Decrease in Gini)</a:t>
            </a:r>
            <a:endParaRPr lang="en-US" sz="1400" dirty="0"/>
          </a:p>
        </p:txBody>
      </p:sp>
      <p:pic>
        <p:nvPicPr>
          <p:cNvPr id="5" name="Feature importance screenshot" descr="Random Forest feature importance chart from the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840480" cy="2907792"/>
          </a:xfrm>
          <a:prstGeom prst="rect">
            <a:avLst/>
          </a:prstGeom>
        </p:spPr>
      </p:pic>
      <p:sp>
        <p:nvSpPr>
          <p:cNvPr id="6" name="Insight card 1"/>
          <p:cNvSpPr/>
          <p:nvPr/>
        </p:nvSpPr>
        <p:spPr>
          <a:xfrm>
            <a:off x="4663440" y="137160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Insight title 1"/>
          <p:cNvSpPr txBox="1"/>
          <p:nvPr/>
        </p:nvSpPr>
        <p:spPr>
          <a:xfrm>
            <a:off x="4846320" y="1444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type dominates</a:t>
            </a:r>
            <a:endParaRPr lang="en-US" sz="1400" dirty="0"/>
          </a:p>
        </p:txBody>
      </p:sp>
      <p:sp>
        <p:nvSpPr>
          <p:cNvPr id="8" name="Insight text 1"/>
          <p:cNvSpPr txBox="1"/>
          <p:nvPr/>
        </p:nvSpPr>
        <p:spPr>
          <a:xfrm>
            <a:off x="4846320" y="17190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81% of Private Equity deals are above the median vs about 6% of Seed/Angel deals.</a:t>
            </a:r>
            <a:endParaRPr lang="en-US" sz="1200" dirty="0"/>
          </a:p>
        </p:txBody>
      </p:sp>
      <p:sp>
        <p:nvSpPr>
          <p:cNvPr id="9" name="Insight card 2"/>
          <p:cNvSpPr/>
          <p:nvPr/>
        </p:nvSpPr>
        <p:spPr>
          <a:xfrm>
            <a:off x="4663440" y="237744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Insight title 2"/>
          <p:cNvSpPr txBox="1"/>
          <p:nvPr/>
        </p:nvSpPr>
        <p:spPr>
          <a:xfrm>
            <a:off x="4846320" y="2450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industry and year matter less</a:t>
            </a:r>
            <a:endParaRPr lang="en-US" sz="1400" dirty="0"/>
          </a:p>
        </p:txBody>
      </p:sp>
      <p:sp>
        <p:nvSpPr>
          <p:cNvPr id="11" name="Insight text 2"/>
          <p:cNvSpPr txBox="1"/>
          <p:nvPr/>
        </p:nvSpPr>
        <p:spPr>
          <a:xfrm>
            <a:off x="4846320" y="27249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contributes far less than investment type.</a:t>
            </a:r>
            <a:endParaRPr lang="en-US" sz="1200" dirty="0"/>
          </a:p>
        </p:txBody>
      </p:sp>
      <p:sp>
        <p:nvSpPr>
          <p:cNvPr id="12" name="Insight card 3"/>
          <p:cNvSpPr/>
          <p:nvPr/>
        </p:nvSpPr>
        <p:spPr>
          <a:xfrm>
            <a:off x="4663440" y="338328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Insight title 3"/>
          <p:cNvSpPr txBox="1"/>
          <p:nvPr/>
        </p:nvSpPr>
        <p:spPr>
          <a:xfrm>
            <a:off x="4846320" y="3456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 care</a:t>
            </a:r>
            <a:endParaRPr lang="en-US" sz="1400" dirty="0"/>
          </a:p>
        </p:txBody>
      </p:sp>
      <p:sp>
        <p:nvSpPr>
          <p:cNvPr id="14" name="Insight text 3"/>
          <p:cNvSpPr txBox="1"/>
          <p:nvPr/>
        </p:nvSpPr>
        <p:spPr>
          <a:xfrm>
            <a:off x="4846320" y="37307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and amount are linked, so part of the accuracy is built in. This is not a forecast of what a startup will raise.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3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Key Takeaway</a:t>
            </a:r>
            <a:endParaRPr lang="en-US" sz="2800" dirty="0"/>
          </a:p>
        </p:txBody>
      </p:sp>
      <p:sp>
        <p:nvSpPr>
          <p:cNvPr id="4" name="Chain box 1"/>
          <p:cNvSpPr/>
          <p:nvPr/>
        </p:nvSpPr>
        <p:spPr>
          <a:xfrm>
            <a:off x="548640" y="1280160"/>
            <a:ext cx="1783080" cy="77724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Chain text 1"/>
          <p:cNvSpPr txBox="1"/>
          <p:nvPr/>
        </p:nvSpPr>
        <p:spPr>
          <a:xfrm>
            <a:off x="594360" y="1280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500" dirty="0"/>
          </a:p>
        </p:txBody>
      </p:sp>
      <p:sp>
        <p:nvSpPr>
          <p:cNvPr id="6" name="Chain arrow 1"/>
          <p:cNvSpPr/>
          <p:nvPr/>
        </p:nvSpPr>
        <p:spPr>
          <a:xfrm>
            <a:off x="2331720" y="1668780"/>
            <a:ext cx="27432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Chain box 2"/>
          <p:cNvSpPr/>
          <p:nvPr/>
        </p:nvSpPr>
        <p:spPr>
          <a:xfrm>
            <a:off x="2606040" y="1280160"/>
            <a:ext cx="1783080" cy="77724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Chain text 2"/>
          <p:cNvSpPr txBox="1"/>
          <p:nvPr/>
        </p:nvSpPr>
        <p:spPr>
          <a:xfrm>
            <a:off x="2651760" y="1280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Patterns</a:t>
            </a:r>
            <a:endParaRPr lang="en-US" sz="1500" dirty="0"/>
          </a:p>
        </p:txBody>
      </p:sp>
      <p:sp>
        <p:nvSpPr>
          <p:cNvPr id="9" name="Chain arrow 2"/>
          <p:cNvSpPr/>
          <p:nvPr/>
        </p:nvSpPr>
        <p:spPr>
          <a:xfrm>
            <a:off x="4389120" y="1668780"/>
            <a:ext cx="27432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0" name="Chain box 3"/>
          <p:cNvSpPr/>
          <p:nvPr/>
        </p:nvSpPr>
        <p:spPr>
          <a:xfrm>
            <a:off x="4663440" y="1280160"/>
            <a:ext cx="1783080" cy="77724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hain text 3"/>
          <p:cNvSpPr txBox="1"/>
          <p:nvPr/>
        </p:nvSpPr>
        <p:spPr>
          <a:xfrm>
            <a:off x="4709160" y="1280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2" name="Chain arrow 3"/>
          <p:cNvSpPr/>
          <p:nvPr/>
        </p:nvSpPr>
        <p:spPr>
          <a:xfrm>
            <a:off x="6446520" y="1668780"/>
            <a:ext cx="27432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Chain box 4"/>
          <p:cNvSpPr/>
          <p:nvPr/>
        </p:nvSpPr>
        <p:spPr>
          <a:xfrm>
            <a:off x="6720840" y="1280160"/>
            <a:ext cx="1783080" cy="77724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Chain text 4"/>
          <p:cNvSpPr txBox="1"/>
          <p:nvPr/>
        </p:nvSpPr>
        <p:spPr>
          <a:xfrm>
            <a:off x="6766560" y="1280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Dashboard</a:t>
            </a:r>
            <a:endParaRPr lang="en-US" sz="1500" dirty="0"/>
          </a:p>
        </p:txBody>
      </p:sp>
      <p:sp>
        <p:nvSpPr>
          <p:cNvPr id="15" name="Takeaway text"/>
          <p:cNvSpPr txBox="1"/>
          <p:nvPr/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funding is concentrated in a few cities, sectors and investors, and a Random Forest separates higher from lower deal amounts with 85.8% accuracy.</a:t>
            </a:r>
            <a:endParaRPr lang="en-US" sz="1800" dirty="0"/>
          </a:p>
        </p:txBody>
      </p:sp>
      <p:sp>
        <p:nvSpPr>
          <p:cNvPr id="16" name="Limitations"/>
          <p:cNvSpPr txBox="1"/>
          <p:nvPr/>
        </p:nvSpPr>
        <p:spPr>
          <a:xfrm>
            <a:off x="548640" y="34290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31.9% of amounts are missing · only funded startups appear · few features available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standardise investor names, add more features, compare other models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rtup Funding">
  <a:themeElements>
    <a:clrScheme name="Startup Funding">
      <a:dk1>
        <a:srgbClr val="1F2933"/>
      </a:dk1>
      <a:lt1>
        <a:srgbClr val="FFFFFF"/>
      </a:lt1>
      <a:dk2>
        <a:srgbClr val="1E4D3A"/>
      </a:dk2>
      <a:lt2>
        <a:srgbClr val="F1F5F2"/>
      </a:lt2>
      <a:accent1>
        <a:srgbClr val="1E4D3A"/>
      </a:accent1>
      <a:accent2>
        <a:srgbClr val="2F7D4F"/>
      </a:accent2>
      <a:accent3>
        <a:srgbClr val="1F3A5F"/>
      </a:accent3>
      <a:accent4>
        <a:srgbClr val="A8C3B0"/>
      </a:accent4>
      <a:accent5>
        <a:srgbClr val="D5E0D8"/>
      </a:accent5>
      <a:accent6>
        <a:srgbClr val="C8963E"/>
      </a:accent6>
      <a:hlink>
        <a:srgbClr val="2F7D4F"/>
      </a:hlink>
      <a:folHlink>
        <a:srgbClr val="5C7365"/>
      </a:folHlink>
    </a:clrScheme>
    <a:fontScheme name="Startup Fundin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Funding Success Prediction and Investor Pattern Analysis</dc:title>
  <dc:subject>PptxGenJS Presentation</dc:subject>
  <dc:creator>Ushasree</dc:creator>
  <cp:lastModifiedBy>Ushasree</cp:lastModifiedBy>
  <cp:revision>1</cp:revision>
  <dcterms:created xsi:type="dcterms:W3CDTF">2026-10-25T14:37:23Z</dcterms:created>
  <dcterms:modified xsi:type="dcterms:W3CDTF">2026-10-25T14:37:23Z</dcterms:modified>
</cp:coreProperties>
</file>